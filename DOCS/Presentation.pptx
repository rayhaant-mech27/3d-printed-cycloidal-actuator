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6" r:id="rId1"/>
  </p:sldMasterIdLst>
  <p:notesMasterIdLst>
    <p:notesMasterId r:id="rId14"/>
  </p:notesMasterIdLst>
  <p:sldIdLst>
    <p:sldId id="375" r:id="rId2"/>
    <p:sldId id="391" r:id="rId3"/>
    <p:sldId id="384" r:id="rId4"/>
    <p:sldId id="388" r:id="rId5"/>
    <p:sldId id="387" r:id="rId6"/>
    <p:sldId id="389" r:id="rId7"/>
    <p:sldId id="393" r:id="rId8"/>
    <p:sldId id="394" r:id="rId9"/>
    <p:sldId id="395" r:id="rId10"/>
    <p:sldId id="397" r:id="rId11"/>
    <p:sldId id="396" r:id="rId12"/>
    <p:sldId id="390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C068001-86CC-4679-B5FB-0ECD48F74F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80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307753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1560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193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1138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2531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444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7000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2902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3843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0140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668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758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8616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4715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Google Shape;12;p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02" name="Google Shape;13;p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03" name="Google Shape;14;p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4" name="Google Shape;15;p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48605" name="Google Shape;16;p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06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07" name="Google Shape;1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08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66" name="Google Shape;41;p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>
            <a:endParaRPr/>
          </a:p>
        </p:txBody>
      </p:sp>
      <p:sp>
        <p:nvSpPr>
          <p:cNvPr id="1048667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68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69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6" name="Google Shape;47;p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8647" name="Google Shape;48;p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648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49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50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Google Shape;53;p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71" name="Google Shape;54;p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48672" name="Google Shape;55;p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8673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74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75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Google Shape;6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77" name="Google Shape;6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78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Google Shape;6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2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53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54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Google Shape;69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6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657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658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659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857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57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Chennai Institute of Technology</a:t>
            </a:r>
            <a:endParaRPr/>
          </a:p>
        </p:txBody>
      </p:sp>
      <p:sp>
        <p:nvSpPr>
          <p:cNvPr id="104857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/>
              <a:t>Department of Mechatronics Engineering</a:t>
            </a:r>
            <a:endParaRPr/>
          </a:p>
        </p:txBody>
      </p:sp>
      <p:sp>
        <p:nvSpPr>
          <p:cNvPr id="104858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9787" y="2252163"/>
            <a:ext cx="5157900" cy="6444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SUPERVISOR</a:t>
            </a:r>
          </a:p>
        </p:txBody>
      </p:sp>
      <p:sp>
        <p:nvSpPr>
          <p:cNvPr id="1048612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9787" y="3063239"/>
            <a:ext cx="5157900" cy="3126435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30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sz="2800" b="1" dirty="0">
                <a:solidFill>
                  <a:srgbClr val="1F3964"/>
                </a:solidFill>
              </a:rPr>
              <a:t>Dr. M.D. Vijayakumar M.E, Ph.D.</a:t>
            </a:r>
            <a:endParaRPr lang="en-GB" sz="2800" b="0" u="sng" dirty="0">
              <a:latin typeface="Times New Roman"/>
              <a:cs typeface="Times New Roman"/>
              <a:sym typeface="Times New Roman"/>
            </a:endParaRPr>
          </a:p>
          <a:p>
            <a:pPr>
              <a:spcAft>
                <a:spcPts val="300"/>
              </a:spcAft>
            </a:pPr>
            <a:r>
              <a:rPr sz="2800" b="0" dirty="0">
                <a:solidFill>
                  <a:srgbClr val="101010"/>
                </a:solidFill>
              </a:rPr>
              <a:t>Associate Professor,</a:t>
            </a:r>
          </a:p>
          <a:p>
            <a:pPr>
              <a:spcAft>
                <a:spcPts val="300"/>
              </a:spcAft>
            </a:pPr>
            <a:r>
              <a:rPr sz="2800" b="0" dirty="0">
                <a:solidFill>
                  <a:srgbClr val="101010"/>
                </a:solidFill>
              </a:rPr>
              <a:t>Dept. of Mechanical</a:t>
            </a:r>
            <a:r>
              <a:rPr lang="en-US" sz="2800" b="0" dirty="0">
                <a:solidFill>
                  <a:srgbClr val="101010"/>
                </a:solidFill>
              </a:rPr>
              <a:t> </a:t>
            </a:r>
            <a:r>
              <a:rPr sz="2800" b="0" dirty="0">
                <a:solidFill>
                  <a:srgbClr val="101010"/>
                </a:solidFill>
              </a:rPr>
              <a:t>Engineering,</a:t>
            </a:r>
          </a:p>
          <a:p>
            <a:pPr>
              <a:spcAft>
                <a:spcPts val="300"/>
              </a:spcAft>
            </a:pPr>
            <a:r>
              <a:rPr sz="2800" b="0" dirty="0">
                <a:solidFill>
                  <a:srgbClr val="101010"/>
                </a:solidFill>
              </a:rPr>
              <a:t>Chennai Institute of Technology,</a:t>
            </a:r>
          </a:p>
          <a:p>
            <a:pPr>
              <a:spcAft>
                <a:spcPts val="300"/>
              </a:spcAft>
            </a:pPr>
            <a:r>
              <a:rPr sz="2800" b="0" dirty="0">
                <a:solidFill>
                  <a:srgbClr val="101010"/>
                </a:solidFill>
              </a:rPr>
              <a:t>Kundrathur – 600 069</a:t>
            </a:r>
          </a:p>
        </p:txBody>
      </p:sp>
      <p:sp>
        <p:nvSpPr>
          <p:cNvPr id="1048613" name="Google Shape;88;p13"/>
          <p:cNvSpPr txBox="1">
            <a:spLocks noGrp="1"/>
          </p:cNvSpPr>
          <p:nvPr>
            <p:ph type="body" idx="1"/>
          </p:nvPr>
        </p:nvSpPr>
        <p:spPr>
          <a:xfrm>
            <a:off x="6194315" y="2252164"/>
            <a:ext cx="5183100" cy="644400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 DETAILS</a:t>
            </a:r>
          </a:p>
        </p:txBody>
      </p:sp>
      <p:sp>
        <p:nvSpPr>
          <p:cNvPr id="1048614" name="Google Shape;89;p13"/>
          <p:cNvSpPr txBox="1">
            <a:spLocks noGrp="1"/>
          </p:cNvSpPr>
          <p:nvPr>
            <p:ph type="body" idx="2"/>
          </p:nvPr>
        </p:nvSpPr>
        <p:spPr>
          <a:xfrm>
            <a:off x="6229350" y="3063239"/>
            <a:ext cx="5183100" cy="3126436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b="1" dirty="0">
                <a:solidFill>
                  <a:srgbClr val="1F3964"/>
                </a:solidFill>
              </a:rPr>
              <a:t>Dept. of Mechanical Engineering</a:t>
            </a:r>
            <a:endParaRPr lang="en-US" b="0" i="0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01010"/>
                </a:solidFill>
              </a:rPr>
              <a:t>Rayhaan T  –  23ME079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01010"/>
                </a:solidFill>
              </a:rPr>
              <a:t>S Niranjan Babu  –  23ME087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01010"/>
                </a:solidFill>
              </a:rPr>
              <a:t>Chennai Institute o</a:t>
            </a:r>
            <a:r>
              <a:rPr lang="en-US" b="0" dirty="0">
                <a:solidFill>
                  <a:srgbClr val="101010"/>
                </a:solidFill>
              </a:rPr>
              <a:t>f </a:t>
            </a:r>
            <a:r>
              <a:rPr b="0" dirty="0">
                <a:solidFill>
                  <a:srgbClr val="101010"/>
                </a:solidFill>
              </a:rPr>
              <a:t>Technology,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01010"/>
                </a:solidFill>
              </a:rPr>
              <a:t>Chennai – 600 069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996308"/>
            <a:ext cx="10515600" cy="1089179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sz="3600" b="1" dirty="0">
                <a:solidFill>
                  <a:srgbClr val="1F3964"/>
                </a:solidFill>
              </a:rPr>
              <a:t>DESIGN AND PERFORMANCE ANALYSIS OF A 3D-PRINTED CYCLOIDAL ACTUATOR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INTRODUCTION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sp>
        <p:nvSpPr>
          <p:cNvPr id="1048611" name="TextBox 1048610"/>
          <p:cNvSpPr txBox="1"/>
          <p:nvPr/>
        </p:nvSpPr>
        <p:spPr>
          <a:xfrm>
            <a:off x="457200" y="1828800"/>
            <a:ext cx="59436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dirty="0">
                <a:solidFill>
                  <a:srgbClr val="1F3964"/>
                </a:solidFill>
              </a:rPr>
              <a:t>Background &amp; Motivation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Robotics, prosthetics &amp; precision automation demand compact, high-</a:t>
            </a:r>
            <a:r>
              <a:rPr lang="en-US" b="0" dirty="0">
                <a:solidFill>
                  <a:srgbClr val="101010"/>
                </a:solidFill>
              </a:rPr>
              <a:t>          </a:t>
            </a:r>
            <a:r>
              <a:rPr b="0" dirty="0">
                <a:solidFill>
                  <a:srgbClr val="101010"/>
                </a:solidFill>
              </a:rPr>
              <a:t>torque, low-backlash actuators.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Spur gears: high backlash  |  Planetary: multi-stage  |  Harmonic drives: expensive.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Cycloidal drives: high reduction in ONE stage, very low backlash, compact.</a:t>
            </a:r>
          </a:p>
          <a:p>
            <a:pPr>
              <a:spcAft>
                <a:spcPts val="300"/>
              </a:spcAft>
            </a:pPr>
            <a:endParaRPr b="0" dirty="0">
              <a:solidFill>
                <a:srgbClr val="101010"/>
              </a:solidFill>
            </a:endParaRPr>
          </a:p>
          <a:p>
            <a:pPr>
              <a:spcAft>
                <a:spcPts val="300"/>
              </a:spcAft>
            </a:pPr>
            <a:r>
              <a:rPr b="1" dirty="0">
                <a:solidFill>
                  <a:srgbClr val="1F3964"/>
                </a:solidFill>
              </a:rPr>
              <a:t>Why 3D Printing?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FDM (Fused Deposition Modeling) is affordable &amp; accessible to researchers.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PETG: combines PLA printability with ABS-like strength &amp; durability.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01010"/>
                </a:solidFill>
              </a:rPr>
              <a:t>  This project: design, print &amp; test a full PETG cycloidal actuator.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b="0" dirty="0">
              <a:solidFill>
                <a:srgbClr val="101010"/>
              </a:solidFill>
            </a:endParaRPr>
          </a:p>
          <a:p>
            <a:pPr>
              <a:spcAft>
                <a:spcPts val="300"/>
              </a:spcAft>
            </a:pPr>
            <a:r>
              <a:rPr b="1" dirty="0">
                <a:solidFill>
                  <a:srgbClr val="1F3964"/>
                </a:solidFill>
              </a:rPr>
              <a:t>Cycloidal Drive Principle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01010"/>
                </a:solidFill>
              </a:rPr>
              <a:t>  Eccentric input shaft drives a lobed disc rolling inside fixed ring pins.</a:t>
            </a:r>
          </a:p>
          <a:p>
            <a:pPr>
              <a:spcAft>
                <a:spcPts val="300"/>
              </a:spcAft>
            </a:pPr>
            <a:r>
              <a:rPr b="0" dirty="0">
                <a:solidFill>
                  <a:srgbClr val="1A5CA8"/>
                </a:solidFill>
              </a:rPr>
              <a:t>  Output rotation is opposite to input with Reduction = Ring Pins – 1</a:t>
            </a:r>
          </a:p>
        </p:txBody>
      </p:sp>
      <p:pic>
        <p:nvPicPr>
          <p:cNvPr id="1048612" name="Picture 1048611" descr="yt_frame_003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5303520" cy="2103120"/>
          </a:xfrm>
          <a:prstGeom prst="rect">
            <a:avLst/>
          </a:prstGeom>
        </p:spPr>
      </p:pic>
      <p:sp>
        <p:nvSpPr>
          <p:cNvPr id="1048613" name="TextBox 1048612"/>
          <p:cNvSpPr txBox="1"/>
          <p:nvPr/>
        </p:nvSpPr>
        <p:spPr>
          <a:xfrm>
            <a:off x="7476670" y="3952518"/>
            <a:ext cx="321273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 dirty="0">
                <a:solidFill>
                  <a:srgbClr val="444444"/>
                </a:solidFill>
              </a:rPr>
              <a:t>Fig: Industrial robot using cycloidal actuators</a:t>
            </a:r>
          </a:p>
        </p:txBody>
      </p:sp>
      <p:pic>
        <p:nvPicPr>
          <p:cNvPr id="1048614" name="Picture 1048613" descr="yt_frame_090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216539"/>
            <a:ext cx="5303520" cy="1828800"/>
          </a:xfrm>
          <a:prstGeom prst="rect">
            <a:avLst/>
          </a:prstGeom>
        </p:spPr>
      </p:pic>
      <p:sp>
        <p:nvSpPr>
          <p:cNvPr id="1048615" name="TextBox 1048614"/>
          <p:cNvSpPr txBox="1"/>
          <p:nvPr/>
        </p:nvSpPr>
        <p:spPr>
          <a:xfrm>
            <a:off x="8052160" y="6134572"/>
            <a:ext cx="25042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i="1" dirty="0">
                <a:solidFill>
                  <a:srgbClr val="444444"/>
                </a:solidFill>
              </a:rPr>
              <a:t>Fig: Cycloidal drive assembly</a:t>
            </a:r>
          </a:p>
        </p:txBody>
      </p:sp>
    </p:spTree>
    <p:extLst>
      <p:ext uri="{BB962C8B-B14F-4D97-AF65-F5344CB8AC3E}">
        <p14:creationId xmlns:p14="http://schemas.microsoft.com/office/powerpoint/2010/main" val="249819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4069080" y="6545163"/>
            <a:ext cx="4114800" cy="365100"/>
          </a:xfrm>
        </p:spPr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0" y="1852388"/>
            <a:ext cx="12192000" cy="4503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Conventional cycloidal drives require precision CNC machining (15000 Rs–50000 Rs) — inaccessible for research &amp;</a:t>
            </a:r>
          </a:p>
          <a:p>
            <a:pPr marL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education.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1800" b="0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Limited data on torque capacity, efficiency &amp; service life of 3D-printed cycloidal actuators.</a:t>
            </a:r>
          </a:p>
          <a:p>
            <a:pPr marL="228600" indent="0" algn="just">
              <a:spcAft>
                <a:spcPts val="300"/>
              </a:spcAft>
            </a:pPr>
            <a:r>
              <a:rPr lang="en-US" sz="1800" b="0" dirty="0">
                <a:solidFill>
                  <a:srgbClr val="10101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PLA: brittle &amp; temperature-sensitive  |  ABS: warps during printing  |  PETG: insufficiently studied.</a:t>
            </a:r>
            <a:endParaRPr lang="en-US" sz="1300" b="0" dirty="0">
              <a:solidFill>
                <a:srgbClr val="101010"/>
              </a:solidFill>
            </a:endParaRPr>
          </a:p>
          <a:p>
            <a:pPr>
              <a:spcAft>
                <a:spcPts val="300"/>
              </a:spcAft>
            </a:pPr>
            <a:r>
              <a:rPr sz="2000" b="1" dirty="0">
                <a:solidFill>
                  <a:srgbClr val="1F3964"/>
                </a:solidFill>
              </a:rPr>
              <a:t>Research Question:</a:t>
            </a:r>
          </a:p>
          <a:p>
            <a:pPr>
              <a:spcAft>
                <a:spcPts val="300"/>
              </a:spcAft>
            </a:pPr>
            <a:r>
              <a:rPr sz="2000" b="0" dirty="0">
                <a:solidFill>
                  <a:srgbClr val="101010"/>
                </a:solidFill>
              </a:rPr>
              <a:t>  Can a functional cycloidal actuator be fabricated using PETG via FDM 3D printing,</a:t>
            </a:r>
            <a:r>
              <a:rPr lang="en-US" sz="2000" b="0" dirty="0">
                <a:solidFill>
                  <a:srgbClr val="101010"/>
                </a:solidFill>
              </a:rPr>
              <a:t> </a:t>
            </a:r>
            <a:r>
              <a:rPr sz="2000" b="0" dirty="0">
                <a:solidFill>
                  <a:schemeClr val="tx1"/>
                </a:solidFill>
              </a:rPr>
              <a:t>and how does it perform i</a:t>
            </a:r>
            <a:r>
              <a:rPr lang="en-IN" sz="2000" b="0" dirty="0">
                <a:solidFill>
                  <a:schemeClr val="tx1"/>
                </a:solidFill>
              </a:rPr>
              <a:t>n </a:t>
            </a:r>
            <a:r>
              <a:rPr sz="2000" b="0" dirty="0">
                <a:solidFill>
                  <a:schemeClr val="tx1"/>
                </a:solidFill>
              </a:rPr>
              <a:t>reduction accuracy, torque transmission, efficiency &amp; backlash?</a:t>
            </a:r>
            <a:r>
              <a:rPr lang="en-US" sz="2000" b="0" dirty="0">
                <a:solidFill>
                  <a:schemeClr val="tx1"/>
                </a:solidFill>
              </a:rPr>
              <a:t> </a:t>
            </a:r>
            <a:endParaRPr sz="2000" b="0" dirty="0">
              <a:solidFill>
                <a:schemeClr val="tx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yt_frame_860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55" y="4318140"/>
            <a:ext cx="5669280" cy="182880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457200" y="61264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Planetary gearbox vs Cycloidal gearbox comparison</a:t>
            </a:r>
          </a:p>
        </p:txBody>
      </p:sp>
      <p:pic>
        <p:nvPicPr>
          <p:cNvPr id="1048613" name="Picture 1048612" descr="yt_frame_015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297680"/>
            <a:ext cx="5303520" cy="1828800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6400800" y="612648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Metal cycloidal drive unit</a:t>
            </a:r>
          </a:p>
        </p:txBody>
      </p:sp>
    </p:spTree>
    <p:extLst>
      <p:ext uri="{BB962C8B-B14F-4D97-AF65-F5344CB8AC3E}">
        <p14:creationId xmlns:p14="http://schemas.microsoft.com/office/powerpoint/2010/main" val="3780176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4038600" y="6547341"/>
            <a:ext cx="4114800" cy="365100"/>
          </a:xfrm>
        </p:spPr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0" y="2086396"/>
            <a:ext cx="7157884" cy="317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F3964"/>
                </a:solidFill>
              </a:rPr>
              <a:t>       </a:t>
            </a:r>
            <a:r>
              <a:rPr sz="1800" b="1" dirty="0">
                <a:solidFill>
                  <a:srgbClr val="1F3964"/>
                </a:solidFill>
              </a:rPr>
              <a:t>[1] Tymrak et al. (2014)</a:t>
            </a:r>
            <a:endParaRPr lang="en-GB" sz="1800" dirty="0"/>
          </a:p>
          <a:p>
            <a:pPr algn="just"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  FDM-printed PLA &amp; ABS: layer adhesion strongly affects strength. Vertical prints are 30–40% weaker.</a:t>
            </a:r>
          </a:p>
          <a:p>
            <a:pPr algn="just"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[2] Garcia-Plaza et al. (2018)</a:t>
            </a:r>
          </a:p>
          <a:p>
            <a:pPr algn="just"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  PLA gears survive ~10^5 cycles at 20% UTS. Heat generation is the key limiting factor.</a:t>
            </a:r>
          </a:p>
          <a:p>
            <a:pPr algn="just"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[3] Llanos et al. (2020)</a:t>
            </a:r>
          </a:p>
          <a:p>
            <a:pPr algn="just"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  3D-printed PLA cycloidal confirmed kinematics; torque limited to 2 Nm. Suggested PETG.</a:t>
            </a:r>
          </a:p>
          <a:p>
            <a:pPr algn="just"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Research Gap:</a:t>
            </a:r>
          </a:p>
          <a:p>
            <a:pPr algn="just">
              <a:spcAft>
                <a:spcPts val="300"/>
              </a:spcAft>
            </a:pPr>
            <a:r>
              <a:rPr sz="1800" b="0" dirty="0">
                <a:solidFill>
                  <a:srgbClr val="1A5CA8"/>
                </a:solidFill>
              </a:rPr>
              <a:t>    No systematic study of PETG-based full cycloidal actuator under controlled loading.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sp>
        <p:nvSpPr>
          <p:cNvPr id="2" name="AutoShape 2" descr="Voice controlled robot using Raspberry Pi | Speech Recognition Javascript  API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Voice controlled robot using Raspberry Pi | Speech Recognition Javascript  API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48611" name="Picture 1048610" descr="yt_frame_900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22" y="4415486"/>
            <a:ext cx="4930878" cy="150876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6096000" y="606338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Cycloidal vs Planetary gearbox — component comparison (video)</a:t>
            </a:r>
          </a:p>
        </p:txBody>
      </p:sp>
      <p:pic>
        <p:nvPicPr>
          <p:cNvPr id="1048613" name="Picture 1048612" descr="yt_frame_070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425" y="2307375"/>
            <a:ext cx="4572000" cy="1508760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7261122" y="4066397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Cycloidal disc with ring pins</a:t>
            </a:r>
          </a:p>
        </p:txBody>
      </p:sp>
    </p:spTree>
    <p:extLst>
      <p:ext uri="{BB962C8B-B14F-4D97-AF65-F5344CB8AC3E}">
        <p14:creationId xmlns:p14="http://schemas.microsoft.com/office/powerpoint/2010/main" val="189779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Objectives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sp>
        <p:nvSpPr>
          <p:cNvPr id="1048611" name="TextBox 1048610"/>
          <p:cNvSpPr txBox="1"/>
          <p:nvPr/>
        </p:nvSpPr>
        <p:spPr>
          <a:xfrm>
            <a:off x="0" y="1828800"/>
            <a:ext cx="7004303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1.  Design &amp; Modelling:  Design a cycloidal drive with 19:1 reduction ratio using CAD.</a:t>
            </a:r>
            <a:endParaRPr lang="en-US"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endParaRPr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2.  Geometric Calculations:  Apply parametric equations to verify reduction ratio &amp; torque.</a:t>
            </a:r>
            <a:endParaRPr lang="en-US"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endParaRPr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3.  Fabrication using PETG:  3D-print all components with optimized FDM parameters.</a:t>
            </a:r>
            <a:endParaRPr lang="en-US"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endParaRPr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4.  Mechanical Evaluation:  Test kinematic accuracy, torque capacity, efficiency &amp; backlash.</a:t>
            </a:r>
            <a:endParaRPr lang="en-US"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endParaRPr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5.  Microstructure &amp; Failure Analysis:  Inspect print quality and failure modes under load.</a:t>
            </a:r>
            <a:endParaRPr lang="en-US"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endParaRPr sz="1600" b="1" dirty="0">
              <a:solidFill>
                <a:srgbClr val="1F3964"/>
              </a:solidFill>
            </a:endParaRP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6.  Validation:  Compare experimental results with theoretical predictions.</a:t>
            </a:r>
          </a:p>
        </p:txBody>
      </p:sp>
      <p:pic>
        <p:nvPicPr>
          <p:cNvPr id="1048612" name="Picture 1048611" descr="pdf_img_23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828800"/>
            <a:ext cx="4754880" cy="2743200"/>
          </a:xfrm>
          <a:prstGeom prst="rect">
            <a:avLst/>
          </a:prstGeom>
        </p:spPr>
      </p:pic>
      <p:sp>
        <p:nvSpPr>
          <p:cNvPr id="1048613" name="TextBox 1048612"/>
          <p:cNvSpPr txBox="1"/>
          <p:nvPr/>
        </p:nvSpPr>
        <p:spPr>
          <a:xfrm>
            <a:off x="7132320" y="457200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Full Assembly CAD Model (SolidWorks)</a:t>
            </a:r>
          </a:p>
        </p:txBody>
      </p:sp>
      <p:pic>
        <p:nvPicPr>
          <p:cNvPr id="1048614" name="Picture 1048613" descr="yt_frame_030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846320"/>
            <a:ext cx="4754880" cy="1371600"/>
          </a:xfrm>
          <a:prstGeom prst="rect">
            <a:avLst/>
          </a:prstGeom>
        </p:spPr>
      </p:pic>
      <p:sp>
        <p:nvSpPr>
          <p:cNvPr id="1048615" name="TextBox 1048614"/>
          <p:cNvSpPr txBox="1"/>
          <p:nvPr/>
        </p:nvSpPr>
        <p:spPr>
          <a:xfrm>
            <a:off x="7132320" y="6217920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Cycloidal disc geometry</a:t>
            </a:r>
          </a:p>
        </p:txBody>
      </p:sp>
    </p:spTree>
    <p:extLst>
      <p:ext uri="{BB962C8B-B14F-4D97-AF65-F5344CB8AC3E}">
        <p14:creationId xmlns:p14="http://schemas.microsoft.com/office/powerpoint/2010/main" val="1672964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Methodology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345283" y="2149398"/>
            <a:ext cx="9144000" cy="317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Design Specifications</a:t>
            </a:r>
            <a:endParaRPr lang="en-GB" sz="1400" dirty="0"/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Reduction: 19:1  |  Input Speed: 100 RPM  |  Input Torque: 1.0 Nm  |  Outer Dia.: 80 mm  |  Height: 40 mm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Geometric Parameters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E = 2 mm  |  R = 40 mm  |  Zr = 20  |  Zd = 19  |  Pin </a:t>
            </a:r>
            <a:r>
              <a:rPr sz="1400" b="0" dirty="0" err="1">
                <a:solidFill>
                  <a:srgbClr val="101010"/>
                </a:solidFill>
              </a:rPr>
              <a:t>dia</a:t>
            </a:r>
            <a:r>
              <a:rPr sz="1400" b="0" dirty="0">
                <a:solidFill>
                  <a:srgbClr val="101010"/>
                </a:solidFill>
              </a:rPr>
              <a:t> = 5 mm  |  Disc thickness = 8 mm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Reduction Ratio: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A5CA8"/>
                </a:solidFill>
              </a:rPr>
              <a:t>  i = Zr / (Zr - Zd) = 20 / (20-19) = 19 : 1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Torque Analysis: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Ideal: </a:t>
            </a:r>
            <a:r>
              <a:rPr sz="1400" b="0" dirty="0" err="1">
                <a:solidFill>
                  <a:srgbClr val="101010"/>
                </a:solidFill>
              </a:rPr>
              <a:t>T_out</a:t>
            </a:r>
            <a:r>
              <a:rPr sz="1400" b="0" dirty="0">
                <a:solidFill>
                  <a:srgbClr val="101010"/>
                </a:solidFill>
              </a:rPr>
              <a:t> = 1.0 x 19 = 19 Nm  |  With 65% efficiency: </a:t>
            </a:r>
            <a:r>
              <a:rPr sz="1400" b="0" dirty="0" err="1">
                <a:solidFill>
                  <a:srgbClr val="101010"/>
                </a:solidFill>
              </a:rPr>
              <a:t>T_out</a:t>
            </a:r>
            <a:r>
              <a:rPr sz="1400" b="0" dirty="0">
                <a:solidFill>
                  <a:srgbClr val="101010"/>
                </a:solidFill>
              </a:rPr>
              <a:t> = 12.35 Nm (theoretical)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Cycloidal Profile (Parametric </a:t>
            </a:r>
            <a:r>
              <a:rPr sz="1400" b="1" dirty="0" err="1">
                <a:solidFill>
                  <a:srgbClr val="1F3964"/>
                </a:solidFill>
              </a:rPr>
              <a:t>Eqs</a:t>
            </a:r>
            <a:r>
              <a:rPr sz="1400" b="1" dirty="0">
                <a:solidFill>
                  <a:srgbClr val="1F3964"/>
                </a:solidFill>
              </a:rPr>
              <a:t>.):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x(theta) = R*cos(theta) - E*cos(Zd*theta) - (E/R)*cos((Zd-1)*theta)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y(theta) = R*sin(theta) - E*sin(Zd*theta) - (E/R)*sin((Zd-1)*theta)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3" name="Picture 1048612" descr="pdf_img_18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2725892"/>
            <a:ext cx="3693317" cy="3024699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7515391" y="584688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Geometric parameters of cycloidal drive</a:t>
            </a:r>
          </a:p>
        </p:txBody>
      </p:sp>
    </p:spTree>
    <p:extLst>
      <p:ext uri="{BB962C8B-B14F-4D97-AF65-F5344CB8AC3E}">
        <p14:creationId xmlns:p14="http://schemas.microsoft.com/office/powerpoint/2010/main" val="378883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Materials and Methods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839787" y="2009040"/>
            <a:ext cx="7016187" cy="437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PETG Material  (Tensile: 48 MPa | Modulus: 1.9 GPa | Elongation: 18% | </a:t>
            </a:r>
            <a:r>
              <a:rPr sz="1600" b="1" dirty="0" err="1">
                <a:solidFill>
                  <a:srgbClr val="1F3964"/>
                </a:solidFill>
              </a:rPr>
              <a:t>Tg</a:t>
            </a:r>
            <a:r>
              <a:rPr sz="1600" b="1" dirty="0">
                <a:solidFill>
                  <a:srgbClr val="1F3964"/>
                </a:solidFill>
              </a:rPr>
              <a:t>: 80 deg C)</a:t>
            </a:r>
            <a:endParaRPr lang="en-GB" sz="1600" dirty="0"/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01010"/>
                </a:solidFill>
              </a:rPr>
              <a:t>  Best balance of strength, flexibility &amp; printability vs PLA &amp; ABS. Low warping.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3D Printing Parameters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01010"/>
                </a:solidFill>
              </a:rPr>
              <a:t>  Nozzle: 240 C  |  Layer: 0.16 mm  |  Infill: 100% Gyroid  |  Walls: 4  |  Speed: 40 mm/s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01010"/>
                </a:solidFill>
              </a:rPr>
              <a:t>  Total print time: ~25.5 </a:t>
            </a:r>
            <a:r>
              <a:rPr sz="1600" b="0" dirty="0" err="1">
                <a:solidFill>
                  <a:srgbClr val="101010"/>
                </a:solidFill>
              </a:rPr>
              <a:t>hrs</a:t>
            </a:r>
            <a:r>
              <a:rPr sz="1600" b="0" dirty="0">
                <a:solidFill>
                  <a:srgbClr val="101010"/>
                </a:solidFill>
              </a:rPr>
              <a:t>  |  Filament: ~285 g  (Cycloidal disc: 4.5 </a:t>
            </a:r>
            <a:r>
              <a:rPr sz="1600" b="0" dirty="0" err="1">
                <a:solidFill>
                  <a:srgbClr val="101010"/>
                </a:solidFill>
              </a:rPr>
              <a:t>hrs</a:t>
            </a:r>
            <a:r>
              <a:rPr sz="1600" b="0" dirty="0">
                <a:solidFill>
                  <a:srgbClr val="101010"/>
                </a:solidFill>
              </a:rPr>
              <a:t> | Housing: 11.5 </a:t>
            </a:r>
            <a:r>
              <a:rPr sz="1600" b="0" dirty="0" err="1">
                <a:solidFill>
                  <a:srgbClr val="101010"/>
                </a:solidFill>
              </a:rPr>
              <a:t>hrs</a:t>
            </a:r>
            <a:r>
              <a:rPr sz="1600" b="0" dirty="0">
                <a:solidFill>
                  <a:srgbClr val="101010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600" b="1" dirty="0">
                <a:solidFill>
                  <a:srgbClr val="1F3964"/>
                </a:solidFill>
              </a:rPr>
              <a:t>Assembly Steps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01010"/>
                </a:solidFill>
              </a:rPr>
              <a:t>  1. Press 6202 bearings  2. Mount cycloidal disc  3. Press ring pins  4. Insert output pins</a:t>
            </a:r>
          </a:p>
          <a:p>
            <a:pPr>
              <a:spcAft>
                <a:spcPts val="300"/>
              </a:spcAft>
            </a:pPr>
            <a:r>
              <a:rPr sz="1600" b="0" dirty="0">
                <a:solidFill>
                  <a:srgbClr val="101010"/>
                </a:solidFill>
              </a:rPr>
              <a:t>  5. Mount output flange  6. Close housing (M3 screws)  7. Couple NEMA 17 stepper motor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pdf_img_25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621" y="1865829"/>
            <a:ext cx="3566160" cy="182880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8025089" y="3804127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FDM 3D Printer Setup</a:t>
            </a:r>
          </a:p>
        </p:txBody>
      </p:sp>
      <p:pic>
        <p:nvPicPr>
          <p:cNvPr id="1048615" name="Picture 1048614" descr="pdf_img_24_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621" y="4080825"/>
            <a:ext cx="3566160" cy="1828800"/>
          </a:xfrm>
          <a:prstGeom prst="rect">
            <a:avLst/>
          </a:prstGeom>
        </p:spPr>
      </p:pic>
      <p:sp>
        <p:nvSpPr>
          <p:cNvPr id="1048616" name="TextBox 1048615"/>
          <p:cNvSpPr txBox="1"/>
          <p:nvPr/>
        </p:nvSpPr>
        <p:spPr>
          <a:xfrm>
            <a:off x="8207532" y="6105106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PLA vs PETG Properties Chart</a:t>
            </a:r>
          </a:p>
        </p:txBody>
      </p:sp>
    </p:spTree>
    <p:extLst>
      <p:ext uri="{BB962C8B-B14F-4D97-AF65-F5344CB8AC3E}">
        <p14:creationId xmlns:p14="http://schemas.microsoft.com/office/powerpoint/2010/main" val="287363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Results and Discussion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>
          <a:xfrm>
            <a:off x="4038600" y="6492900"/>
            <a:ext cx="4114800" cy="365100"/>
          </a:xfrm>
        </p:spPr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839787" y="1985964"/>
            <a:ext cx="5116596" cy="235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Dimensional Accuracy:  All deviations within +/-0.1 mm (FDM acceptable)</a:t>
            </a:r>
            <a:endParaRPr lang="en-GB" sz="1800" dirty="0"/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Cycloidal disc OD: 79.92 mm (dev -0.08)  |  Ring pin radius: 39.95 mm (dev -0.05)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A5CA8"/>
                </a:solidFill>
              </a:rPr>
              <a:t>Kinematic Verification:  Measured 1</a:t>
            </a:r>
            <a:r>
              <a:rPr lang="en-US" sz="1800" b="1" dirty="0">
                <a:solidFill>
                  <a:srgbClr val="1A5CA8"/>
                </a:solidFill>
              </a:rPr>
              <a:t>8</a:t>
            </a:r>
            <a:r>
              <a:rPr sz="1800" b="1" dirty="0">
                <a:solidFill>
                  <a:srgbClr val="1A5CA8"/>
                </a:solidFill>
              </a:rPr>
              <a:t>.99:1  (Target 1</a:t>
            </a:r>
            <a:r>
              <a:rPr lang="en-US" sz="1800" b="1" dirty="0">
                <a:solidFill>
                  <a:srgbClr val="1A5CA8"/>
                </a:solidFill>
              </a:rPr>
              <a:t>9</a:t>
            </a:r>
            <a:r>
              <a:rPr sz="1800" b="1" dirty="0">
                <a:solidFill>
                  <a:srgbClr val="1A5CA8"/>
                </a:solidFill>
              </a:rPr>
              <a:t>:1 — 0.09% error)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Torque Transmission:  Peak 5.28 Nm @ 1.0 Nm input  (amplification x5.28)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Efficiency:  61.8% (light load) to 48% (full load)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A5CA8"/>
                </a:solidFill>
              </a:rPr>
              <a:t>Backlash:  0.24 deg  vs  1-3 deg for typical spur gears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Failure Modes:  Disc lobe deformation at </a:t>
            </a:r>
            <a:r>
              <a:rPr sz="1800" b="1" dirty="0" err="1">
                <a:solidFill>
                  <a:srgbClr val="1F3964"/>
                </a:solidFill>
              </a:rPr>
              <a:t>T_in</a:t>
            </a:r>
            <a:r>
              <a:rPr sz="1800" b="1" dirty="0">
                <a:solidFill>
                  <a:srgbClr val="1F3964"/>
                </a:solidFill>
              </a:rPr>
              <a:t> &gt; 1.4 Nm | Pin shear at 1.8 Nm | Complete disc fracture at 2.5 Nm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pdf_img_3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8591" y="1780622"/>
            <a:ext cx="2743200" cy="146304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5956382" y="3340018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Kinematic Test Results</a:t>
            </a:r>
          </a:p>
        </p:txBody>
      </p:sp>
      <p:pic>
        <p:nvPicPr>
          <p:cNvPr id="1048613" name="Picture 1048612" descr="pdf_img_31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8591" y="3614338"/>
            <a:ext cx="2743200" cy="1463040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6096000" y="534137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Torque vs Input Load</a:t>
            </a:r>
          </a:p>
        </p:txBody>
      </p:sp>
      <p:pic>
        <p:nvPicPr>
          <p:cNvPr id="1048615" name="Picture 1048614" descr="pdf_img_32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586164"/>
            <a:ext cx="2743200" cy="1463040"/>
          </a:xfrm>
          <a:prstGeom prst="rect">
            <a:avLst/>
          </a:prstGeom>
        </p:spPr>
      </p:pic>
      <p:sp>
        <p:nvSpPr>
          <p:cNvPr id="1048616" name="TextBox 1048615"/>
          <p:cNvSpPr txBox="1"/>
          <p:nvPr/>
        </p:nvSpPr>
        <p:spPr>
          <a:xfrm>
            <a:off x="9083040" y="520421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Efficiency Curve</a:t>
            </a:r>
          </a:p>
        </p:txBody>
      </p:sp>
      <p:pic>
        <p:nvPicPr>
          <p:cNvPr id="1048617" name="Picture 1048616" descr="pdf_img_28_1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1752516"/>
            <a:ext cx="2743200" cy="1463040"/>
          </a:xfrm>
          <a:prstGeom prst="rect">
            <a:avLst/>
          </a:prstGeom>
        </p:spPr>
      </p:pic>
      <p:sp>
        <p:nvSpPr>
          <p:cNvPr id="1048618" name="TextBox 1048617"/>
          <p:cNvSpPr txBox="1"/>
          <p:nvPr/>
        </p:nvSpPr>
        <p:spPr>
          <a:xfrm>
            <a:off x="9065342" y="3311844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Assembled PETG Actuator</a:t>
            </a:r>
          </a:p>
        </p:txBody>
      </p:sp>
    </p:spTree>
    <p:extLst>
      <p:ext uri="{BB962C8B-B14F-4D97-AF65-F5344CB8AC3E}">
        <p14:creationId xmlns:p14="http://schemas.microsoft.com/office/powerpoint/2010/main" val="240439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Conclusion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0" y="1708025"/>
            <a:ext cx="8046721" cy="464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1. Kinematic Precision:</a:t>
            </a:r>
            <a:endParaRPr lang="en-GB" sz="1400" dirty="0"/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Reduction ratio confirmed at 1</a:t>
            </a:r>
            <a:r>
              <a:rPr lang="en-US" sz="1400" b="0" dirty="0">
                <a:solidFill>
                  <a:srgbClr val="101010"/>
                </a:solidFill>
              </a:rPr>
              <a:t>8</a:t>
            </a:r>
            <a:r>
              <a:rPr sz="1400" b="0" dirty="0">
                <a:solidFill>
                  <a:srgbClr val="101010"/>
                </a:solidFill>
              </a:rPr>
              <a:t>.99:1 (target 1</a:t>
            </a:r>
            <a:r>
              <a:rPr lang="en-US" sz="1400" b="0" dirty="0">
                <a:solidFill>
                  <a:srgbClr val="101010"/>
                </a:solidFill>
              </a:rPr>
              <a:t>9</a:t>
            </a:r>
            <a:r>
              <a:rPr sz="1400" b="0" dirty="0">
                <a:solidFill>
                  <a:srgbClr val="101010"/>
                </a:solidFill>
              </a:rPr>
              <a:t>:1). FDM achieves sufficient cycloidal geometry accuracy.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2. Torque Capacity: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Peak output torque: 5.28 Nm at 1.0 Nm input (torque amplification x5.28, friction-limited).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3. Efficiency: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Range: 61.8% (light load) to 48% (full load) — acceptable for low-to-medium torque use.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4. Backlash: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Measured at 0.24 deg — far better than spur gears (1-3 deg), comparable to harmonic drives.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5. PETG Suitability: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Well-suited for low-to-medium torque applications. Limited above 80 deg C glass transition temperature.</a:t>
            </a:r>
          </a:p>
          <a:p>
            <a:pPr>
              <a:spcAft>
                <a:spcPts val="300"/>
              </a:spcAft>
            </a:pPr>
            <a:r>
              <a:rPr sz="1400" b="1" dirty="0">
                <a:solidFill>
                  <a:srgbClr val="1F3964"/>
                </a:solidFill>
              </a:rPr>
              <a:t>6. Failure Mechanism:</a:t>
            </a:r>
          </a:p>
          <a:p>
            <a:pPr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   Progressive plastic deformation of cycloidal disc lobes is the dominant failure at </a:t>
            </a:r>
            <a:r>
              <a:rPr sz="1400" b="0" dirty="0" err="1">
                <a:solidFill>
                  <a:srgbClr val="101010"/>
                </a:solidFill>
              </a:rPr>
              <a:t>T_in</a:t>
            </a:r>
            <a:r>
              <a:rPr sz="1400" b="0" dirty="0">
                <a:solidFill>
                  <a:srgbClr val="101010"/>
                </a:solidFill>
              </a:rPr>
              <a:t> &gt; 1.4 Nm.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pdf_img_28_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828800"/>
            <a:ext cx="3840480" cy="434340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8046720" y="617220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Final Assembled 3D-Printed PETG Cycloidal Actuator</a:t>
            </a:r>
          </a:p>
        </p:txBody>
      </p:sp>
    </p:spTree>
    <p:extLst>
      <p:ext uri="{BB962C8B-B14F-4D97-AF65-F5344CB8AC3E}">
        <p14:creationId xmlns:p14="http://schemas.microsoft.com/office/powerpoint/2010/main" val="703255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Future Work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0" y="1985964"/>
            <a:ext cx="7772401" cy="4370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800" b="1" dirty="0">
                <a:solidFill>
                  <a:srgbClr val="1F3964"/>
                </a:solidFill>
              </a:rPr>
              <a:t>     </a:t>
            </a:r>
            <a:r>
              <a:rPr sz="1800" b="1" dirty="0">
                <a:solidFill>
                  <a:srgbClr val="1F3964"/>
                </a:solidFill>
              </a:rPr>
              <a:t>Material Optimization:</a:t>
            </a:r>
            <a:endParaRPr lang="en-GB" sz="1800" dirty="0"/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CF-reinforced PETG | Polycarbonate (higher temp) | Annealing to improve crystallinity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Design Improvements:</a:t>
            </a:r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Integrated cooling channels | Metal inserts at high-stress zones | Optimized infill for strength/weight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Printing &amp; Processing:</a:t>
            </a:r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Continuous </a:t>
            </a:r>
            <a:r>
              <a:rPr sz="1800" b="0" dirty="0" err="1">
                <a:solidFill>
                  <a:srgbClr val="101010"/>
                </a:solidFill>
              </a:rPr>
              <a:t>fibre</a:t>
            </a:r>
            <a:r>
              <a:rPr sz="1800" b="0" dirty="0">
                <a:solidFill>
                  <a:srgbClr val="101010"/>
                </a:solidFill>
              </a:rPr>
              <a:t> printing | Multi-material bearings | </a:t>
            </a:r>
            <a:r>
              <a:rPr sz="1800" b="0" dirty="0" err="1">
                <a:solidFill>
                  <a:srgbClr val="101010"/>
                </a:solidFill>
              </a:rPr>
              <a:t>Vapour</a:t>
            </a:r>
            <a:r>
              <a:rPr sz="1800" b="0" dirty="0">
                <a:solidFill>
                  <a:srgbClr val="101010"/>
                </a:solidFill>
              </a:rPr>
              <a:t> smoothing to reduce friction</a:t>
            </a:r>
          </a:p>
          <a:p>
            <a:pPr>
              <a:spcAft>
                <a:spcPts val="300"/>
              </a:spcAft>
            </a:pPr>
            <a:r>
              <a:rPr sz="1800" b="1" dirty="0">
                <a:solidFill>
                  <a:srgbClr val="1F3964"/>
                </a:solidFill>
              </a:rPr>
              <a:t>Application-Specific Testing:</a:t>
            </a:r>
          </a:p>
          <a:p>
            <a:pPr>
              <a:spcAft>
                <a:spcPts val="300"/>
              </a:spcAft>
            </a:pPr>
            <a:r>
              <a:rPr sz="1800" b="0" dirty="0">
                <a:solidFill>
                  <a:srgbClr val="101010"/>
                </a:solidFill>
              </a:rPr>
              <a:t>  10^5 cycle durability test | Robotic arm integration | PETG vs PLA vs ABS comparison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yt_frame_003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28800"/>
            <a:ext cx="4114800" cy="228600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7772400" y="411480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Robotic arm — target application</a:t>
            </a:r>
          </a:p>
        </p:txBody>
      </p:sp>
      <p:pic>
        <p:nvPicPr>
          <p:cNvPr id="1048613" name="Picture 1048612" descr="yt_frame_070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389120"/>
            <a:ext cx="4114800" cy="1828800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7772400" y="6217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Cycloidal disc with output pins</a:t>
            </a:r>
          </a:p>
        </p:txBody>
      </p:sp>
    </p:spTree>
    <p:extLst>
      <p:ext uri="{BB962C8B-B14F-4D97-AF65-F5344CB8AC3E}">
        <p14:creationId xmlns:p14="http://schemas.microsoft.com/office/powerpoint/2010/main" val="3021522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Google Shape;85;p13"/>
          <p:cNvSpPr txBox="1">
            <a:spLocks noGrp="1"/>
          </p:cNvSpPr>
          <p:nvPr>
            <p:ph type="title"/>
          </p:nvPr>
        </p:nvSpPr>
        <p:spPr>
          <a:xfrm>
            <a:off x="839787" y="1154112"/>
            <a:ext cx="10515600" cy="55391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en-US" sz="2800" b="1" dirty="0">
                <a:latin typeface="Times New Roman"/>
                <a:cs typeface="Times New Roman"/>
                <a:sym typeface="Times New Roman"/>
              </a:rPr>
              <a:t>Reference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-1" y="1865829"/>
            <a:ext cx="7698659" cy="449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[1] Tymrak, B. M., </a:t>
            </a:r>
            <a:r>
              <a:rPr sz="1400" b="0" dirty="0" err="1">
                <a:solidFill>
                  <a:srgbClr val="101010"/>
                </a:solidFill>
              </a:rPr>
              <a:t>Kreiger</a:t>
            </a:r>
            <a:r>
              <a:rPr sz="1400" b="0" dirty="0">
                <a:solidFill>
                  <a:srgbClr val="101010"/>
                </a:solidFill>
              </a:rPr>
              <a:t>, M., &amp; Pearce, J. M. (2014). Mechanical properties of FDM-printed </a:t>
            </a:r>
            <a:r>
              <a:rPr lang="en-US" sz="1400" b="0" dirty="0">
                <a:solidFill>
                  <a:srgbClr val="101010"/>
                </a:solidFill>
              </a:rPr>
              <a:t>components. Materials &amp; Design, 58, 242-246.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dirty="0"/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0" dirty="0">
                <a:solidFill>
                  <a:srgbClr val="101010"/>
                </a:solidFill>
              </a:rPr>
              <a:t>[2] Garcia-Plaza, E., Nunez, P. J., &amp; Sanz-</a:t>
            </a:r>
            <a:r>
              <a:rPr lang="en-US" sz="1400" b="0" dirty="0" err="1">
                <a:solidFill>
                  <a:srgbClr val="101010"/>
                </a:solidFill>
              </a:rPr>
              <a:t>Lobera</a:t>
            </a:r>
            <a:r>
              <a:rPr lang="en-US" sz="1400" b="0" dirty="0">
                <a:solidFill>
                  <a:srgbClr val="101010"/>
                </a:solidFill>
              </a:rPr>
              <a:t>, A. (2018). Fatigue behavior of FDM-printed PLA gears. Procedia Manufacturing, 13, 694-701.</a:t>
            </a: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[3] Llanos, J. F., </a:t>
            </a:r>
            <a:r>
              <a:rPr sz="1400" b="0" dirty="0" err="1">
                <a:solidFill>
                  <a:srgbClr val="101010"/>
                </a:solidFill>
              </a:rPr>
              <a:t>Giraldo</a:t>
            </a:r>
            <a:r>
              <a:rPr sz="1400" b="0" dirty="0">
                <a:solidFill>
                  <a:srgbClr val="101010"/>
                </a:solidFill>
              </a:rPr>
              <a:t>, J. A., &amp; Gonzalez, D. (2020). Design of a 3D-printed cycloidal drive. Journal of Mechanical Engineering, 66(3), 145-152.</a:t>
            </a: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[4] Callister, W. D., &amp; </a:t>
            </a:r>
            <a:r>
              <a:rPr sz="1400" b="0" dirty="0" err="1">
                <a:solidFill>
                  <a:srgbClr val="101010"/>
                </a:solidFill>
              </a:rPr>
              <a:t>Rethwisch</a:t>
            </a:r>
            <a:r>
              <a:rPr sz="1400" b="0" dirty="0">
                <a:solidFill>
                  <a:srgbClr val="101010"/>
                </a:solidFill>
              </a:rPr>
              <a:t>, D. G. (2018). Materials Science and Engineering: An Introduction (10th ed.). Wiley.</a:t>
            </a: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[5] Hashim, J., et al. (1999). Metal matrix composites by stir casting. Journal of Materials Processing Technology, 92-93, 1-7.</a:t>
            </a: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[6] Miracle, D. B. (2005). Metal matrix composites — From science to significance. Composites Science and Technology, 65(15-16), 2526-2540.</a:t>
            </a: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endParaRPr lang="en-US" sz="1400" b="0" dirty="0">
              <a:solidFill>
                <a:srgbClr val="101010"/>
              </a:solidFill>
            </a:endParaRPr>
          </a:p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101010"/>
                </a:solidFill>
              </a:rPr>
              <a:t>[7] Prasad, S. V., &amp; Asthana, R. (2004). Aluminum metal-matrix composites for automotive applications. Tribology Letters, 17(3), 445-453.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  <p:pic>
        <p:nvPicPr>
          <p:cNvPr id="1048611" name="Picture 1048610" descr="yt_frame_320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860344"/>
            <a:ext cx="4114800" cy="2286000"/>
          </a:xfrm>
          <a:prstGeom prst="rect">
            <a:avLst/>
          </a:prstGeom>
        </p:spPr>
      </p:pic>
      <p:sp>
        <p:nvSpPr>
          <p:cNvPr id="1048612" name="TextBox 1048611"/>
          <p:cNvSpPr txBox="1"/>
          <p:nvPr/>
        </p:nvSpPr>
        <p:spPr>
          <a:xfrm>
            <a:off x="8910317" y="4284774"/>
            <a:ext cx="183896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 dirty="0">
                <a:solidFill>
                  <a:srgbClr val="444444"/>
                </a:solidFill>
              </a:rPr>
              <a:t>Fig: Transmission ratio formula </a:t>
            </a:r>
          </a:p>
        </p:txBody>
      </p:sp>
      <p:pic>
        <p:nvPicPr>
          <p:cNvPr id="1048613" name="Picture 1048612" descr="pdf_img_27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572000"/>
            <a:ext cx="4114800" cy="1645920"/>
          </a:xfrm>
          <a:prstGeom prst="rect">
            <a:avLst/>
          </a:prstGeom>
        </p:spPr>
      </p:pic>
      <p:sp>
        <p:nvSpPr>
          <p:cNvPr id="1048614" name="TextBox 1048613"/>
          <p:cNvSpPr txBox="1"/>
          <p:nvPr/>
        </p:nvSpPr>
        <p:spPr>
          <a:xfrm>
            <a:off x="7772400" y="62179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444444"/>
                </a:solidFill>
              </a:rPr>
              <a:t>Fig: Assembly component drawings</a:t>
            </a:r>
          </a:p>
        </p:txBody>
      </p:sp>
    </p:spTree>
    <p:extLst>
      <p:ext uri="{BB962C8B-B14F-4D97-AF65-F5344CB8AC3E}">
        <p14:creationId xmlns:p14="http://schemas.microsoft.com/office/powerpoint/2010/main" val="1927661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Department of Mechanical Engineering</a:t>
            </a:r>
          </a:p>
        </p:txBody>
      </p:sp>
      <p:sp>
        <p:nvSpPr>
          <p:cNvPr id="7" name="Google Shape;122;p17"/>
          <p:cNvSpPr txBox="1">
            <a:spLocks/>
          </p:cNvSpPr>
          <p:nvPr/>
        </p:nvSpPr>
        <p:spPr>
          <a:xfrm>
            <a:off x="1394459" y="3095184"/>
            <a:ext cx="9144000" cy="502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4000" b="1" dirty="0">
                <a:solidFill>
                  <a:srgbClr val="1F3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lang="en-GB" sz="4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3" y="64066"/>
            <a:ext cx="11091673" cy="93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93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1579</Words>
  <Application>Microsoft Office PowerPoint</Application>
  <PresentationFormat>Widescreen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DESIGN AND PERFORMANCE ANALYSIS OF A 3D-PRINTED CYCLOIDAL ACTUATOR</vt:lpstr>
      <vt:lpstr>INTRODUCTION</vt:lpstr>
      <vt:lpstr>Problem Statement</vt:lpstr>
      <vt:lpstr>Literature Survey</vt:lpstr>
      <vt:lpstr>Objectives</vt:lpstr>
      <vt:lpstr>Methodology</vt:lpstr>
      <vt:lpstr>Materials and Methods</vt:lpstr>
      <vt:lpstr>Results and Discussion</vt:lpstr>
      <vt:lpstr>Conclusion</vt:lpstr>
      <vt:lpstr>Future Work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JEEVITHA RAJAGOPAL</dc:creator>
  <cp:lastModifiedBy>Niranjan Babu</cp:lastModifiedBy>
  <cp:revision>40</cp:revision>
  <dcterms:created xsi:type="dcterms:W3CDTF">2022-03-15T22:04:43Z</dcterms:created>
  <dcterms:modified xsi:type="dcterms:W3CDTF">2026-03-30T03:50:59Z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a18dd6657d9e44208dc3a5d2b4c29770</vt:lpwstr>
  </property>
</Properties>
</file>